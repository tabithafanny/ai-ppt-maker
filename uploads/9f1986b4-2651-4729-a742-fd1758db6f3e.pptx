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Judicial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0881360" cy="0"/>
          </a:xfrm>
          <a:prstGeom prst="line">
            <a:avLst/>
          </a:prstGeom>
          <a:noFill/>
          <a:ln w="12700">
            <a:solidFill>
              <a:srgbClr val="C89B4A">
                <a:alpha val="7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司法社会工作小组汇报｜假释人员介入方案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601200" y="2560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从“阴影”到“向阳”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143000"/>
            <a:ext cx="64922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7EF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从“阴影”到“向阳”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713232" y="1965960"/>
            <a:ext cx="1508760" cy="0"/>
          </a:xfrm>
          <a:prstGeom prst="line">
            <a:avLst/>
          </a:prstGeom>
          <a:noFill/>
          <a:ln w="63500">
            <a:solidFill>
              <a:srgbClr val="E86F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22677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假释人员司法社会工作介入方案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3232" y="26517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E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——以李某社区矫正案例为基础的情境化改编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528523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4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日期：2026.04.28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86968" y="3950208"/>
            <a:ext cx="0" cy="1316736"/>
          </a:xfrm>
          <a:prstGeom prst="line">
            <a:avLst/>
          </a:prstGeom>
          <a:noFill/>
          <a:ln w="25400">
            <a:solidFill>
              <a:srgbClr val="C89B4A">
                <a:alpha val="3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4224528"/>
            <a:ext cx="768096" cy="0"/>
          </a:xfrm>
          <a:prstGeom prst="line">
            <a:avLst/>
          </a:prstGeom>
          <a:noFill/>
          <a:ln w="25400">
            <a:solidFill>
              <a:srgbClr val="C89B4A">
                <a:alpha val="3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4224528"/>
            <a:ext cx="-274320" cy="493776"/>
          </a:xfrm>
          <a:prstGeom prst="line">
            <a:avLst/>
          </a:prstGeom>
          <a:noFill/>
          <a:ln w="12700">
            <a:solidFill>
              <a:srgbClr val="C89B4A">
                <a:alpha val="3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968" y="4224528"/>
            <a:ext cx="274320" cy="493776"/>
          </a:xfrm>
          <a:prstGeom prst="line">
            <a:avLst/>
          </a:prstGeom>
          <a:noFill/>
          <a:ln w="12700">
            <a:solidFill>
              <a:srgbClr val="C89B4A">
                <a:alpha val="38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" y="4630522"/>
            <a:ext cx="493776" cy="274320"/>
          </a:xfrm>
          <a:prstGeom prst="arc">
            <a:avLst/>
          </a:prstGeom>
          <a:noFill/>
          <a:ln w="12700">
            <a:solidFill>
              <a:srgbClr val="C89B4A">
                <a:alpha val="3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61288" y="4630522"/>
            <a:ext cx="493776" cy="274320"/>
          </a:xfrm>
          <a:prstGeom prst="arc">
            <a:avLst/>
          </a:prstGeom>
          <a:noFill/>
          <a:ln w="12700">
            <a:solidFill>
              <a:srgbClr val="C89B4A">
                <a:alpha val="38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" y="5288890"/>
            <a:ext cx="548640" cy="0"/>
          </a:xfrm>
          <a:prstGeom prst="line">
            <a:avLst/>
          </a:prstGeom>
          <a:noFill/>
          <a:ln w="38100">
            <a:solidFill>
              <a:srgbClr val="C89B4A">
                <a:alpha val="38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汇报路径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以“对象—困境—案例—介入—呈现”为主线展开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08760" y="3136392"/>
            <a:ext cx="960120" cy="0"/>
          </a:xfrm>
          <a:prstGeom prst="line">
            <a:avLst/>
          </a:prstGeom>
          <a:noFill/>
          <a:ln w="25400">
            <a:solidFill>
              <a:srgbClr val="C89B4A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834640"/>
            <a:ext cx="640080" cy="640080"/>
          </a:xfrm>
          <a:prstGeom prst="ellipse">
            <a:avLst/>
          </a:prstGeom>
          <a:solidFill>
            <a:srgbClr val="5B241C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30175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4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对象界定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假释人员是谁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49040" y="3136392"/>
            <a:ext cx="960120" cy="0"/>
          </a:xfrm>
          <a:prstGeom prst="line">
            <a:avLst/>
          </a:prstGeom>
          <a:noFill/>
          <a:ln w="25400">
            <a:solidFill>
              <a:srgbClr val="C89B4A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2834640"/>
            <a:ext cx="640080" cy="640080"/>
          </a:xfrm>
          <a:prstGeom prst="ellipse">
            <a:avLst/>
          </a:prstGeom>
          <a:solidFill>
            <a:srgbClr val="5B241C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63824" y="30175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88920" y="3703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4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现实处境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06040" y="40416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回到社区后的多重困境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3136392"/>
            <a:ext cx="960120" cy="0"/>
          </a:xfrm>
          <a:prstGeom prst="line">
            <a:avLst/>
          </a:prstGeom>
          <a:noFill/>
          <a:ln w="25400">
            <a:solidFill>
              <a:srgbClr val="C89B4A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57800" y="2834640"/>
            <a:ext cx="640080" cy="640080"/>
          </a:xfrm>
          <a:prstGeom prst="ellipse">
            <a:avLst/>
          </a:prstGeom>
          <a:solidFill>
            <a:srgbClr val="8A4F32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30175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3703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F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案例引入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40416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李叔的回归困境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3136392"/>
            <a:ext cx="960120" cy="0"/>
          </a:xfrm>
          <a:prstGeom prst="line">
            <a:avLst/>
          </a:prstGeom>
          <a:noFill/>
          <a:ln w="25400">
            <a:solidFill>
              <a:srgbClr val="C89B4A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2834640"/>
            <a:ext cx="640080" cy="640080"/>
          </a:xfrm>
          <a:prstGeom prst="ellipse">
            <a:avLst/>
          </a:prstGeom>
          <a:solidFill>
            <a:srgbClr val="8A4F32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44384" y="30175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69480" y="3703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F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介入方案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86600" y="40416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理论、技巧与服务流程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469880" y="3136392"/>
            <a:ext cx="0" cy="0"/>
          </a:xfrm>
          <a:prstGeom prst="line">
            <a:avLst/>
          </a:prstGeom>
          <a:noFill/>
          <a:ln w="25400">
            <a:solidFill>
              <a:srgbClr val="C89B4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38360" y="2834640"/>
            <a:ext cx="640080" cy="640080"/>
          </a:xfrm>
          <a:prstGeom prst="ellipse">
            <a:avLst/>
          </a:prstGeom>
          <a:solidFill>
            <a:srgbClr val="E86F2A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30175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EF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09760" y="3703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角色呈现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326880" y="404164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《向·阳》剧本展示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设计逻辑：前半部分偏“制度与困境”，后半部分转向“支持与行动”，形成从阴影到向阳的视觉叙事。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服务对象界定：假释人员是谁？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假释不是刑罚的终结，而是刑罚执行方式从监禁转向社区。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7E6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120" y="214884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5B241C"/>
          </a:solidFill>
          <a:ln w="12700">
            <a:solidFill>
              <a:srgbClr val="5B24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22174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法律身份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87552" y="2743200"/>
            <a:ext cx="12801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依法附条件提前释放，在假释考验期内接受社区矫正。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DF8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26080" y="214884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8A4F32"/>
          </a:solidFill>
          <a:ln w="12700">
            <a:solidFill>
              <a:srgbClr val="8A4F3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99232" y="22174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制度位置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53512" y="2743200"/>
            <a:ext cx="12801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需遵守报告、会客、外出审批、迁居批准等监管规定。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192024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FFFDF8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148840"/>
            <a:ext cx="1325880" cy="320040"/>
          </a:xfrm>
          <a:prstGeom prst="roundRect">
            <a:avLst>
              <a:gd name="adj" fmla="val 22857"/>
            </a:avLst>
          </a:prstGeom>
          <a:solidFill>
            <a:srgbClr val="E86F2A"/>
          </a:solidFill>
          <a:ln w="12700">
            <a:solidFill>
              <a:srgbClr val="E86F2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17420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社工视角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19472" y="2743200"/>
            <a:ext cx="12801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既是矫正对象，也是需要心理支持、社会适应和资源链接的服务对象。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12280" y="1874520"/>
            <a:ext cx="4526280" cy="1965960"/>
          </a:xfrm>
          <a:prstGeom prst="roundRect">
            <a:avLst>
              <a:gd name="adj" fmla="val 3721"/>
            </a:avLst>
          </a:prstGeom>
          <a:solidFill>
            <a:srgbClr val="FFF4DF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12280" y="1874520"/>
            <a:ext cx="73152" cy="196596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3448" y="2020824"/>
            <a:ext cx="420624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《刑法》第八十一条：执行一定刑期后，认真遵守监规、接受教育改造、确有悔改表现、没有再犯罪危险的，可以假释。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12280" y="4160520"/>
            <a:ext cx="4526280" cy="822960"/>
          </a:xfrm>
          <a:prstGeom prst="roundRect">
            <a:avLst>
              <a:gd name="adj" fmla="val 8889"/>
            </a:avLst>
          </a:prstGeom>
          <a:solidFill>
            <a:srgbClr val="FFF4DF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12280" y="4160520"/>
            <a:ext cx="73152" cy="82296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13448" y="4306824"/>
            <a:ext cx="4206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核心判断：假释人员具有“社区生活者”与“矫正对象”的双重身份。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资料依据：小组整理资料《假释人员》对假释定义、考验期与社区矫正义务的梳理。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法律地位与考验期义务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假释人员回到社区，但仍处于考验期和社区矫正体系之中。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187452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24871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考验期限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2944368"/>
            <a:ext cx="1993392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有期徒刑：剩余未执行刑期；无期徒刑：十年。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3474720" y="187452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11880" y="24871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基本义务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611880" y="2944368"/>
            <a:ext cx="1993392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遵守法律法规，按照规定报告活动情况。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263640" y="187452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24871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行为边界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0" y="2944368"/>
            <a:ext cx="1993392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遵守会客规定，离开所居住市县或迁居需经批准。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9052560" y="1874520"/>
            <a:ext cx="2331720" cy="2423160"/>
          </a:xfrm>
          <a:prstGeom prst="roundRect">
            <a:avLst>
              <a:gd name="adj" fmla="val 3137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89720" y="20574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6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9720" y="248716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后果机制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189720" y="2944368"/>
            <a:ext cx="1993392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违反规定、犯新罪或发现漏罪，可能被撤销假释。</a:t>
            </a:r>
            <a:endParaRPr lang="en-US" sz="1280" dirty="0"/>
          </a:p>
        </p:txBody>
      </p:sp>
      <p:sp>
        <p:nvSpPr>
          <p:cNvPr id="33" name="Shape 31"/>
          <p:cNvSpPr/>
          <p:nvPr/>
        </p:nvSpPr>
        <p:spPr>
          <a:xfrm>
            <a:off x="987552" y="48006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4DF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7552" y="4800600"/>
            <a:ext cx="73152" cy="77724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4946904"/>
            <a:ext cx="46177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《刑法》第八十五条：被假释的犯罪分子，在假释考验期限内，依法实行社区矫正。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48646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司法社工的支持性介入，必须发生在社区矫正的制度边界之内。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F18"/>
          </a:solidFill>
          <a:ln w="12700">
            <a:solidFill>
              <a:srgbClr val="4A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FE2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现实处境：回到社区，不等于完成回归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假释人员面临法律约束、社会排斥与生活重建交织的复合困境。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57800" y="2148840"/>
            <a:ext cx="1691640" cy="1691640"/>
          </a:xfrm>
          <a:prstGeom prst="ellipse">
            <a:avLst/>
          </a:prstGeom>
          <a:solidFill>
            <a:srgbClr val="5B241C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65192" y="3401568"/>
            <a:ext cx="2286000" cy="1508760"/>
          </a:xfrm>
          <a:prstGeom prst="roundRect">
            <a:avLst>
              <a:gd name="adj" fmla="val 12121"/>
            </a:avLst>
          </a:prstGeom>
          <a:solidFill>
            <a:srgbClr val="5B241C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1488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社会脱节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2514600"/>
            <a:ext cx="245059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不适应智能手机、电子支付、线上办事。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03920" y="196596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0" y="21488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心理落差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0" y="2514600"/>
            <a:ext cx="245059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新生活期待遭遇现实压力与关系疏离。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34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标签压力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0120" y="4709160"/>
            <a:ext cx="245059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害怕被认出、被议论、被拒绝。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503920" y="4160520"/>
            <a:ext cx="2880360" cy="1234440"/>
          </a:xfrm>
          <a:prstGeom prst="roundRect">
            <a:avLst>
              <a:gd name="adj" fmla="val 5926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0" y="434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支持断裂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0" y="4709160"/>
            <a:ext cx="2450592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家庭、邻里、朋友、就业关系薄弱。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现实困境对应小组资料中关于“监狱化与脱节感、心理落差、社会排斥、支持网络断裂”的分析。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案例原型：李叔的回归困境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他不是没有改变意愿，而是不知道如何重新进入社会。</a:t>
            </a:r>
            <a:endParaRPr lang="en-US" sz="1500" dirty="0"/>
          </a:p>
        </p:txBody>
      </p:sp>
      <p:pic>
        <p:nvPicPr>
          <p:cNvPr id="17" name="Image 0" descr="/mnt/data/scen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120640" cy="32918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172200" y="16002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46520" y="18470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案例档案｜李叔（化名）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473952" y="2395728"/>
            <a:ext cx="43434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中老年假释人员，曾有经商经历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因犯罪服刑多年后进入社区矫正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回归后出现智能生活脱节、身份羞耻与出门恐惧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希望重新生活，但缺少现实路径与社会支持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46520" y="4069080"/>
            <a:ext cx="4343400" cy="502920"/>
          </a:xfrm>
          <a:prstGeom prst="roundRect">
            <a:avLst>
              <a:gd name="adj" fmla="val 14545"/>
            </a:avLst>
          </a:prstGeom>
          <a:solidFill>
            <a:srgbClr val="FFF4DF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46520" y="4069080"/>
            <a:ext cx="73152" cy="50292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47688" y="4215384"/>
            <a:ext cx="4023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核心问题：从“我这辈子毁了”到“我还能重新生活吗？”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案例原型来源于司法行政案例库相关社区矫正案例；剧本《向·阳》在此基础上进行了情境化改编。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服务需求分析：从困境到需求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司法社工的介入不是凭感觉帮助，而是基于需求评估。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1664208"/>
            <a:ext cx="3063240" cy="320040"/>
          </a:xfrm>
          <a:prstGeom prst="roundRect">
            <a:avLst>
              <a:gd name="adj" fmla="val 22857"/>
            </a:avLst>
          </a:prstGeom>
          <a:solidFill>
            <a:srgbClr val="5B241C"/>
          </a:solidFill>
          <a:ln w="12700">
            <a:solidFill>
              <a:srgbClr val="5B241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1732788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困境表现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97680" y="1664208"/>
            <a:ext cx="2514600" cy="320040"/>
          </a:xfrm>
          <a:prstGeom prst="roundRect">
            <a:avLst>
              <a:gd name="adj" fmla="val 22857"/>
            </a:avLst>
          </a:prstGeom>
          <a:solidFill>
            <a:srgbClr val="C89B4A"/>
          </a:solidFill>
          <a:ln w="12700">
            <a:solidFill>
              <a:srgbClr val="C89B4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0832" y="1732788"/>
            <a:ext cx="2368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服务需求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1664208"/>
            <a:ext cx="3566160" cy="320040"/>
          </a:xfrm>
          <a:prstGeom prst="roundRect">
            <a:avLst>
              <a:gd name="adj" fmla="val 22857"/>
            </a:avLst>
          </a:prstGeom>
          <a:solidFill>
            <a:srgbClr val="E86F2A"/>
          </a:solidFill>
          <a:ln w="12700">
            <a:solidFill>
              <a:srgbClr val="E86F2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1732788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介入方向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1520" y="2148840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2267712"/>
            <a:ext cx="2843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不会用手机，害怕出门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97680" y="2148840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267712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社会适应需求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98080" y="2148840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2267712"/>
            <a:ext cx="33467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小目标训练、生活技能支持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858768" y="2414016"/>
            <a:ext cx="320040" cy="0"/>
          </a:xfrm>
          <a:prstGeom prst="line">
            <a:avLst/>
          </a:prstGeom>
          <a:noFill/>
          <a:ln w="17780">
            <a:solidFill>
              <a:srgbClr val="C89B4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931152" y="2414016"/>
            <a:ext cx="320040" cy="0"/>
          </a:xfrm>
          <a:prstGeom prst="line">
            <a:avLst/>
          </a:prstGeom>
          <a:noFill/>
          <a:ln w="17780">
            <a:solidFill>
              <a:srgbClr val="E86F2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1520" y="2862072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2980944"/>
            <a:ext cx="2843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觉得自己毁了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297680" y="2862072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2980944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情绪支持需求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8080" y="2862072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7808" y="2980944"/>
            <a:ext cx="33467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同理回应、接纳、心理疏导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858768" y="3127248"/>
            <a:ext cx="320040" cy="0"/>
          </a:xfrm>
          <a:prstGeom prst="line">
            <a:avLst/>
          </a:prstGeom>
          <a:noFill/>
          <a:ln w="17780">
            <a:solidFill>
              <a:srgbClr val="C89B4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931152" y="3127248"/>
            <a:ext cx="320040" cy="0"/>
          </a:xfrm>
          <a:prstGeom prst="line">
            <a:avLst/>
          </a:prstGeom>
          <a:noFill/>
          <a:ln w="17780">
            <a:solidFill>
              <a:srgbClr val="E86F2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1520" y="3575304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3694176"/>
            <a:ext cx="2843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担心被认出来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297680" y="3575304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07408" y="3694176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去标签化需求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498080" y="3575304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3694176"/>
            <a:ext cx="33467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保密说明、身份重建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858768" y="3840480"/>
            <a:ext cx="320040" cy="0"/>
          </a:xfrm>
          <a:prstGeom prst="line">
            <a:avLst/>
          </a:prstGeom>
          <a:noFill/>
          <a:ln w="17780">
            <a:solidFill>
              <a:srgbClr val="C89B4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931152" y="3840480"/>
            <a:ext cx="320040" cy="0"/>
          </a:xfrm>
          <a:prstGeom prst="line">
            <a:avLst/>
          </a:prstGeom>
          <a:noFill/>
          <a:ln w="17780">
            <a:solidFill>
              <a:srgbClr val="E86F2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31520" y="4288536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4407408"/>
            <a:ext cx="2843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想做生意但担心身份影响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297680" y="4288536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07408" y="4407408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就业生计需求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498080" y="4288536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07808" y="4407408"/>
            <a:ext cx="33467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创业咨询、政策链接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3858768" y="4553712"/>
            <a:ext cx="320040" cy="0"/>
          </a:xfrm>
          <a:prstGeom prst="line">
            <a:avLst/>
          </a:prstGeom>
          <a:noFill/>
          <a:ln w="17780">
            <a:solidFill>
              <a:srgbClr val="C89B4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931152" y="4553712"/>
            <a:ext cx="320040" cy="0"/>
          </a:xfrm>
          <a:prstGeom prst="line">
            <a:avLst/>
          </a:prstGeom>
          <a:noFill/>
          <a:ln w="17780">
            <a:solidFill>
              <a:srgbClr val="E86F2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731520" y="5001768"/>
            <a:ext cx="3063240" cy="530352"/>
          </a:xfrm>
          <a:prstGeom prst="roundRect">
            <a:avLst>
              <a:gd name="adj" fmla="val 13793"/>
            </a:avLst>
          </a:prstGeom>
          <a:solidFill>
            <a:srgbClr val="FFF4E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" y="5120640"/>
            <a:ext cx="284378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缺少资源和人脉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4297680" y="5001768"/>
            <a:ext cx="251460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07408" y="5120640"/>
            <a:ext cx="229514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支持网络需求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498080" y="5001768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5240">
            <a:solidFill>
              <a:srgbClr val="E7CC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07808" y="5120640"/>
            <a:ext cx="3346704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社区资源链接、跟进陪伴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3858768" y="5266944"/>
            <a:ext cx="320040" cy="0"/>
          </a:xfrm>
          <a:prstGeom prst="line">
            <a:avLst/>
          </a:prstGeom>
          <a:noFill/>
          <a:ln w="17780">
            <a:solidFill>
              <a:srgbClr val="C89B4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6931152" y="5266944"/>
            <a:ext cx="320040" cy="0"/>
          </a:xfrm>
          <a:prstGeom prst="line">
            <a:avLst/>
          </a:prstGeom>
          <a:noFill/>
          <a:ln w="17780">
            <a:solidFill>
              <a:srgbClr val="E86F2A">
                <a:alpha val="80000"/>
              </a:srgbClr>
            </a:solidFill>
            <a:prstDash val="solid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需求评估将剧本情节与社工介入方向连接起来，是后续方案设计的依据。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理论依据：不是简单鼓励，而是专业介入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用社会工作理论解释“为什么这样介入”。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192024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8408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F2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优势视角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96696" y="2761488"/>
            <a:ext cx="278892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不只看到犯罪经历，也看到经商经验、行动能力和改变意愿。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96696" y="3776472"/>
            <a:ext cx="2697480" cy="0"/>
          </a:xfrm>
          <a:prstGeom prst="line">
            <a:avLst/>
          </a:prstGeom>
          <a:noFill/>
          <a:ln w="12700">
            <a:solidFill>
              <a:srgbClr val="C89B4A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977640"/>
            <a:ext cx="27889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对应动作：挖掘过往经验，重建自我效能。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4572000" y="192024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生态系统理论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91456" y="2761488"/>
            <a:ext cx="278892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个人困境与家庭、社区、就业市场和司法制度共同相关。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91456" y="3776472"/>
            <a:ext cx="2697480" cy="0"/>
          </a:xfrm>
          <a:prstGeom prst="line">
            <a:avLst/>
          </a:prstGeom>
          <a:noFill/>
          <a:ln w="12700">
            <a:solidFill>
              <a:srgbClr val="C89B4A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3977640"/>
            <a:ext cx="27889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对应动作：多系统评估，连接家庭与社区资源。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8366760" y="1920240"/>
            <a:ext cx="3246120" cy="2971800"/>
          </a:xfrm>
          <a:prstGeom prst="roundRect">
            <a:avLst>
              <a:gd name="adj" fmla="val 246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67928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标签理论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586216" y="2761488"/>
            <a:ext cx="2788920" cy="758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身份污名会加剧自我否定与社会排斥。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586216" y="3776472"/>
            <a:ext cx="2697480" cy="0"/>
          </a:xfrm>
          <a:prstGeom prst="line">
            <a:avLst/>
          </a:prstGeom>
          <a:noFill/>
          <a:ln w="12700">
            <a:solidFill>
              <a:srgbClr val="C89B4A">
                <a:alpha val="6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86216" y="3977640"/>
            <a:ext cx="27889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对应动作：保密说明、去标签化沟通、身份重建。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专业技巧：从“听见困境”到“促成行动”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技术不是堆概念，而是对应具体情境中的回应方式。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56048" y="2148840"/>
            <a:ext cx="2057400" cy="2057400"/>
          </a:xfrm>
          <a:prstGeom prst="ellipse">
            <a:avLst/>
          </a:prstGeom>
          <a:solidFill>
            <a:srgbClr val="E86F2A"/>
          </a:solidFill>
          <a:ln w="25400">
            <a:solidFill>
              <a:srgbClr val="C89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0368" y="276148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司法社工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专业技巧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24128" y="19385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接纳与非评判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8992" y="2221992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不以犯罪经历定义服务对象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1938528" y="2240280"/>
            <a:ext cx="2999232" cy="502920"/>
          </a:xfrm>
          <a:prstGeom prst="line">
            <a:avLst/>
          </a:prstGeom>
          <a:noFill/>
          <a:ln w="12700">
            <a:solidFill>
              <a:srgbClr val="C89B4A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3434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52928" y="44531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同理回应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907792" y="4736592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回应羞耻、害怕与低价值感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767328" y="4754880"/>
            <a:ext cx="1170432" cy="-2011680"/>
          </a:xfrm>
          <a:prstGeom prst="line">
            <a:avLst/>
          </a:prstGeom>
          <a:noFill/>
          <a:ln w="12700">
            <a:solidFill>
              <a:srgbClr val="C89B4A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74920" y="50749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84648" y="518464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澄清与聚焦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39512" y="5468112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把“我完了”转化为具体问题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099048" y="5486400"/>
            <a:ext cx="-1161288" cy="-2743200"/>
          </a:xfrm>
          <a:prstGeom prst="line">
            <a:avLst/>
          </a:prstGeom>
          <a:noFill/>
          <a:ln w="12700">
            <a:solidFill>
              <a:srgbClr val="C89B4A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06640" y="43434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516368" y="44531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小目标设定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571232" y="4736592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从下楼买菜开始降低改变门槛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430768" y="4754880"/>
            <a:ext cx="-3493008" cy="-2011680"/>
          </a:xfrm>
          <a:prstGeom prst="line">
            <a:avLst/>
          </a:prstGeom>
          <a:noFill/>
          <a:ln w="12700">
            <a:solidFill>
              <a:srgbClr val="C89B4A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0" y="182880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53728" y="1938528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正向强化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308592" y="2221992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确认每一次微小行动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10168128" y="2240280"/>
            <a:ext cx="-5230368" cy="502920"/>
          </a:xfrm>
          <a:prstGeom prst="line">
            <a:avLst/>
          </a:prstGeom>
          <a:noFill/>
          <a:ln w="12700">
            <a:solidFill>
              <a:srgbClr val="C89B4A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0" y="1207008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852928" y="1316736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资源链接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2907792" y="1600200"/>
            <a:ext cx="1691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连接就业、培训、政策和社区支持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767328" y="1618488"/>
            <a:ext cx="1170432" cy="1124712"/>
          </a:xfrm>
          <a:prstGeom prst="line">
            <a:avLst/>
          </a:prstGeom>
          <a:noFill/>
          <a:ln w="12700">
            <a:solidFill>
              <a:srgbClr val="C89B4A">
                <a:alpha val="2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第一幕集中体现接纳、同理、小目标设置；第三幕集中体现资源链接与个案管理。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介入流程：从稳定情绪到重建生活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介入重点不是一次性解决所有问题，而是让服务对象重新获得可持续生活能力。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3337560"/>
            <a:ext cx="10149840" cy="0"/>
          </a:xfrm>
          <a:prstGeom prst="line">
            <a:avLst/>
          </a:prstGeom>
          <a:noFill/>
          <a:ln w="38100">
            <a:solidFill>
              <a:srgbClr val="C89B4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658368" cy="658368"/>
          </a:xfrm>
          <a:prstGeom prst="ellipse">
            <a:avLst/>
          </a:prstGeom>
          <a:solidFill>
            <a:srgbClr val="5B241C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32004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886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24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关系建立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7472" y="4251960"/>
            <a:ext cx="16916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接纳、同理、说明保密原则，降低防御。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337560" y="2999232"/>
            <a:ext cx="658368" cy="658368"/>
          </a:xfrm>
          <a:prstGeom prst="ellipse">
            <a:avLst/>
          </a:prstGeom>
          <a:solidFill>
            <a:srgbClr val="5B241C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32004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3886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24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需求评估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862072" y="4251960"/>
            <a:ext cx="16916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评估心理状态、社会适应、就业意愿和风险因素。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852160" y="2999232"/>
            <a:ext cx="658368" cy="658368"/>
          </a:xfrm>
          <a:prstGeom prst="ellipse">
            <a:avLst/>
          </a:prstGeom>
          <a:solidFill>
            <a:srgbClr val="8A4F32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32004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3886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A4F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情绪与行动支持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376672" y="4251960"/>
            <a:ext cx="16916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小目标设置、正向强化，恢复行动感。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366760" y="2999232"/>
            <a:ext cx="658368" cy="658368"/>
          </a:xfrm>
          <a:prstGeom prst="ellipse">
            <a:avLst/>
          </a:prstGeom>
          <a:solidFill>
            <a:srgbClr val="8A4F32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32004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38160" y="3886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A4F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资源链接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891272" y="4251960"/>
            <a:ext cx="16916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对接创业帮扶、就业培训、政策咨询。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10881360" y="2999232"/>
            <a:ext cx="658368" cy="658368"/>
          </a:xfrm>
          <a:prstGeom prst="ellipse">
            <a:avLst/>
          </a:prstGeom>
          <a:solidFill>
            <a:srgbClr val="E86F2A"/>
          </a:solidFill>
          <a:ln w="19050">
            <a:solidFill>
              <a:srgbClr val="C89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91088" y="320040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652760" y="3886200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跟进巩固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405872" y="4251960"/>
            <a:ext cx="1691640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回访评估行动计划，协助稳定生活。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0" y="5687568"/>
            <a:ext cx="12188952" cy="457200"/>
          </a:xfrm>
          <a:prstGeom prst="rect">
            <a:avLst/>
          </a:prstGeom>
          <a:solidFill>
            <a:srgbClr val="4A1F18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58064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EF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阴影  →  理解  →  支持  →  行动  →  向阳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角色扮演：《向·阳》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以服务流程中的关键片段呈现司法社工介入过程。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1627632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2130552"/>
            <a:ext cx="2606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假释人员｜处于回归社会初期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572000" y="1627632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陈曦/陈念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00600" y="2130552"/>
            <a:ext cx="2606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司法社工｜支持性介入与资源链接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366760" y="1627632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0" y="181051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刘警官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95360" y="2130552"/>
            <a:ext cx="2606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司法所工作人员｜规则提醒与制度支持</a:t>
            </a:r>
            <a:endParaRPr lang="en-US" sz="1020" dirty="0"/>
          </a:p>
        </p:txBody>
      </p:sp>
      <p:pic>
        <p:nvPicPr>
          <p:cNvPr id="26" name="Image 0" descr="/mnt/data/scen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71800"/>
            <a:ext cx="2423160" cy="157276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777240" y="4251960"/>
            <a:ext cx="2423160" cy="5029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6968" y="43434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第一幕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563624" y="434340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初入矫：他在阴影里</a:t>
            </a:r>
            <a:endParaRPr lang="en-US" sz="920" dirty="0"/>
          </a:p>
        </p:txBody>
      </p:sp>
      <p:pic>
        <p:nvPicPr>
          <p:cNvPr id="30" name="Image 1" descr="/mnt/data/scen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71800"/>
            <a:ext cx="2423160" cy="1572768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566160" y="4251960"/>
            <a:ext cx="2423160" cy="5029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675888" y="43434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第二幕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352544" y="434340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过程跟进：适应阳光</a:t>
            </a:r>
            <a:endParaRPr lang="en-US" sz="920" dirty="0"/>
          </a:p>
        </p:txBody>
      </p:sp>
      <p:pic>
        <p:nvPicPr>
          <p:cNvPr id="34" name="Image 2" descr="/mnt/data/scen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971800"/>
            <a:ext cx="2423160" cy="1572768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6355080" y="4251960"/>
            <a:ext cx="2423160" cy="5029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64808" y="43434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第三幕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7141464" y="434340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链接资源：把想法变成路径</a:t>
            </a:r>
            <a:endParaRPr lang="en-US" sz="920" dirty="0"/>
          </a:p>
        </p:txBody>
      </p:sp>
      <p:pic>
        <p:nvPicPr>
          <p:cNvPr id="38" name="Image 3" descr="/mnt/data/scene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2971800"/>
            <a:ext cx="2423160" cy="1572768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9144000" y="4251960"/>
            <a:ext cx="2423160" cy="50292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253728" y="4343400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第四幕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9930384" y="4343400"/>
            <a:ext cx="148132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解矫：他已成为阳光</a:t>
            </a:r>
            <a:endParaRPr lang="en-US" sz="920" dirty="0"/>
          </a:p>
        </p:txBody>
      </p:sp>
      <p:sp>
        <p:nvSpPr>
          <p:cNvPr id="42" name="Text 36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建议表演重点：第一幕突出情绪张力；第三幕突出司法社工的资源链接与个案管理功能。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F18"/>
          </a:solidFill>
          <a:ln w="12700">
            <a:solidFill>
              <a:srgbClr val="4A1F18"/>
            </a:solidFill>
            <a:prstDash val="solid"/>
          </a:ln>
        </p:spPr>
      </p:sp>
      <p:pic>
        <p:nvPicPr>
          <p:cNvPr id="3" name="Image 0" descr="/mnt/data/scen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6364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94360" y="6583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4D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第一幕｜初入矫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" y="11155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B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他在阴影里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537667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7EF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李叔低着头、双手不安，表达自己服刑多年后的社会不适应：手机不会用，害怕被认出，觉得自己“这辈子都毁了”。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629400" y="1051560"/>
            <a:ext cx="4709160" cy="4498848"/>
          </a:xfrm>
          <a:prstGeom prst="roundRect">
            <a:avLst>
              <a:gd name="adj" fmla="val 1626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037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展示重点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903720" y="1783080"/>
            <a:ext cx="406908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服务对象状态：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自卑、羞耻、害怕暴露身份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对社会变化不适应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自我价值感低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社工回应：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接纳负面情绪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同理社会脱节感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强调过去经商经验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设置“下楼买菜、说一句话”的小目标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03720" y="480060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FFF4DF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03720" y="4800600"/>
            <a:ext cx="73152" cy="45720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04888" y="4946904"/>
            <a:ext cx="3657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关键词：接纳｜同理｜优势挖掘｜小目标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第二幕：过程跟进｜适应阳光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改变不是从宏大目标开始，而是从一次可完成的小行动开始。</a:t>
            </a:r>
            <a:endParaRPr lang="en-US" sz="1500" dirty="0"/>
          </a:p>
        </p:txBody>
      </p:sp>
      <p:pic>
        <p:nvPicPr>
          <p:cNvPr id="17" name="Image 0" descr="/mnt/data/sce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4983480" cy="3383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80760" y="1572768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55080" y="1828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变化线索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55080" y="2240280"/>
            <a:ext cx="4434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一周后，李叔主动来到司法所。虽然仍然拘谨，但他完成了“下楼买菜、和人说话”的小目标，开始感受到自己并非完全做不到。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0" y="4251960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C89B4A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4315968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下楼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7223760" y="3959352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C89B4A">
              <a:alpha val="8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23760" y="4023360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买菜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8046720" y="3666744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046720" y="3730752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说一句话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8869680" y="337413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69680" y="3438144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社区互动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9692640" y="3081528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86F2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92640" y="3145536"/>
            <a:ext cx="7498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生计计划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社工技巧：正向强化、行动复盘、增强自我效能、提出下一步可选择目标。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第三幕：链接资源｜把想法变成路径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支持不能停留在安慰层面，还要进入现实生活层面的资源对接。</a:t>
            </a:r>
            <a:endParaRPr lang="en-US" sz="1500" dirty="0"/>
          </a:p>
        </p:txBody>
      </p:sp>
      <p:pic>
        <p:nvPicPr>
          <p:cNvPr id="17" name="Image 0" descr="/mnt/data/scen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5074920" cy="34290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172200" y="1627632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FFF8EC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46520" y="1856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资源网络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8092440" y="2788920"/>
            <a:ext cx="822960" cy="822960"/>
          </a:xfrm>
          <a:prstGeom prst="ellipse">
            <a:avLst/>
          </a:prstGeom>
          <a:solidFill>
            <a:srgbClr val="E86F2A"/>
          </a:solidFill>
          <a:ln w="15240">
            <a:solidFill>
              <a:srgbClr val="C89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75320" y="305409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李叔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503920" y="3200400"/>
            <a:ext cx="-841248" cy="-914400"/>
          </a:xfrm>
          <a:prstGeom prst="line">
            <a:avLst/>
          </a:prstGeom>
          <a:noFill/>
          <a:ln w="15240">
            <a:solidFill>
              <a:srgbClr val="C89B4A">
                <a:alpha val="8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0" y="214884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4DF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60920" y="222199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司法所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503920" y="3200400"/>
            <a:ext cx="1033272" cy="-868680"/>
          </a:xfrm>
          <a:prstGeom prst="line">
            <a:avLst/>
          </a:prstGeom>
          <a:noFill/>
          <a:ln w="15240">
            <a:solidFill>
              <a:srgbClr val="C89B4A">
                <a:alpha val="8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89720" y="219456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4DF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35440" y="226771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503920" y="3200400"/>
            <a:ext cx="1307592" cy="457200"/>
          </a:xfrm>
          <a:prstGeom prst="line">
            <a:avLst/>
          </a:prstGeom>
          <a:noFill/>
          <a:ln w="15240">
            <a:solidFill>
              <a:srgbClr val="C89B4A">
                <a:alpha val="8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464040" y="352044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4DF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09760" y="359359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就业服务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503920" y="3200400"/>
            <a:ext cx="-749808" cy="685800"/>
          </a:xfrm>
          <a:prstGeom prst="line">
            <a:avLst/>
          </a:prstGeom>
          <a:noFill/>
          <a:ln w="15240">
            <a:solidFill>
              <a:srgbClr val="C89B4A">
                <a:alpha val="8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06640" y="374904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4DF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52360" y="382219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培训资源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503920" y="3200400"/>
            <a:ext cx="-1252728" cy="-91440"/>
          </a:xfrm>
          <a:prstGeom prst="line">
            <a:avLst/>
          </a:prstGeom>
          <a:noFill/>
          <a:ln w="15240">
            <a:solidFill>
              <a:srgbClr val="C89B4A">
                <a:alpha val="8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03720" y="297180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FF4DF"/>
          </a:solidFill>
          <a:ln w="12700">
            <a:solidFill>
              <a:srgbClr val="C89B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0" y="3044952"/>
            <a:ext cx="7772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社工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355080" y="530352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FF4DF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355080" y="5303520"/>
            <a:ext cx="73152" cy="50292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56248" y="5449824"/>
            <a:ext cx="43891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司法社工不是替服务对象包办生活，而是做服务对象与社会资源之间的桥梁。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66928" y="6236208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表述需稳妥：可写“协助咨询、协助申请、陪同对接”，避免承诺具体政策必然实现。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cen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49808"/>
            <a:ext cx="5760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4D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第四幕｜解矫：他已成为阳光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600200"/>
            <a:ext cx="4480560" cy="3291840"/>
          </a:xfrm>
          <a:prstGeom prst="roundRect">
            <a:avLst>
              <a:gd name="adj" fmla="val 2222"/>
            </a:avLst>
          </a:prstGeom>
          <a:solidFill>
            <a:srgbClr val="FFF8EC">
              <a:alpha val="94000"/>
            </a:srgbClr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8992" y="18745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F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服务成效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78992" y="2331720"/>
            <a:ext cx="35661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情绪状态改善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社会适应能力提升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生计路径初步建立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社会角色逐步恢复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违法风险得到降低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600200"/>
            <a:ext cx="5257800" cy="3291840"/>
          </a:xfrm>
          <a:prstGeom prst="roundRect">
            <a:avLst>
              <a:gd name="adj" fmla="val 2222"/>
            </a:avLst>
          </a:prstGeom>
          <a:solidFill>
            <a:srgbClr val="FFF8EC">
              <a:alpha val="94000"/>
            </a:srgbClr>
          </a:solidFill>
          <a:ln w="15240">
            <a:solidFill>
              <a:srgbClr val="E86F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8745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6F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总结反思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55080" y="2286000"/>
            <a:ext cx="438912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假释人员的回归，不是在走出监狱时完成，而是在家庭、社区、就业和自我认同中逐步完成。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司法社工的价值，不只是安慰鼓励，而是通过评估、支持、链接和陪伴，帮助服务对象重建生活能力。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3291840" y="571500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4D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从“不再犯罪”到“重新生活”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892040" y="6172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让回归真正发生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EF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175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045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2337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629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2921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640080"/>
            <a:ext cx="0" cy="1051560"/>
          </a:xfrm>
          <a:prstGeom prst="line">
            <a:avLst/>
          </a:prstGeom>
          <a:noFill/>
          <a:ln w="25400">
            <a:solidFill>
              <a:srgbClr val="C89B4A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32136" y="429768"/>
            <a:ext cx="292608" cy="292608"/>
          </a:xfrm>
          <a:prstGeom prst="arc">
            <a:avLst/>
          </a:prstGeom>
          <a:noFill/>
          <a:ln w="12700">
            <a:solidFill>
              <a:srgbClr val="C89B4A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58368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1F1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参考资料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566928" y="1143000"/>
            <a:ext cx="1143000" cy="0"/>
          </a:xfrm>
          <a:prstGeom prst="line">
            <a:avLst/>
          </a:prstGeom>
          <a:noFill/>
          <a:ln w="50800">
            <a:solidFill>
              <a:srgbClr val="E86F2A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66928" y="12527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法律政策、案例原型与小组材料。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1508760"/>
            <a:ext cx="10332720" cy="4160520"/>
          </a:xfrm>
          <a:prstGeom prst="roundRect">
            <a:avLst>
              <a:gd name="adj" fmla="val 1758"/>
            </a:avLst>
          </a:prstGeom>
          <a:solidFill>
            <a:srgbClr val="FFFDF8"/>
          </a:solidFill>
          <a:ln w="15240">
            <a:solidFill>
              <a:srgbClr val="C89B4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25880" y="1874520"/>
            <a:ext cx="94640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《中华人民共和国刑法》第八十一条、第八十五条。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《中华人民共和国社区矫正法》。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司法行政案例库：《对社区服刑人员李某依法实施教育矫正案例》。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小组整理资料：《假释人员》。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小组剧本：《司法社工角色扮演——〈向·阳〉》。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1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司法社会工作、社区矫正、标签理论、优势视角、生态系统理论相关教材或论文。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14400" y="1508760"/>
            <a:ext cx="109728" cy="4160520"/>
          </a:xfrm>
          <a:prstGeom prst="rect">
            <a:avLst/>
          </a:prstGeom>
          <a:solidFill>
            <a:srgbClr val="E86F2A"/>
          </a:solidFill>
          <a:ln w="12700">
            <a:solidFill>
              <a:srgbClr val="E86F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89204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A62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注：案例呈现为课程角色扮演需要进行情境化改编，汇报时应说明其为“真实案例原型 + 小组专业化改编”。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6540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6257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从阴影到向阳</dc:title>
  <dc:subject>假释人员司法社会工作介入方案</dc:subject>
  <dc:creator>OpenAI</dc:creator>
  <cp:lastModifiedBy>OpenAI</cp:lastModifiedBy>
  <cp:revision>1</cp:revision>
  <dcterms:created xsi:type="dcterms:W3CDTF">2026-04-26T08:43:47Z</dcterms:created>
  <dcterms:modified xsi:type="dcterms:W3CDTF">2026-04-26T08:43:47Z</dcterms:modified>
</cp:coreProperties>
</file>